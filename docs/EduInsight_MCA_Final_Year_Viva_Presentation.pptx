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9144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F2F4F8"/>
          </a:solidFill>
          <a:ln w="2540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1F4E79"/>
                </a:solidFill>
                <a:latin typeface="Times New Roman"/>
              </a:defRPr>
            </a:pPr>
            <a:r>
              <a:t>EduInsight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2F75B5"/>
                </a:solidFill>
                <a:latin typeface="Times New Roman"/>
              </a:defRPr>
            </a:pPr>
            <a:r>
              <a:t>A Predictive Analytics System for Student Performance Analysis</a:t>
            </a:r>
          </a:p>
          <a:p>
            <a:br/>
            <a:pPr algn="ctr">
              <a:defRPr sz="1600" b="1">
                <a:solidFill>
                  <a:srgbClr val="70AD47"/>
                </a:solidFill>
                <a:latin typeface="Times New Roman"/>
              </a:defRPr>
            </a:pPr>
            <a:r>
              <a:t>MCA FINAL YEAR PROJECT VIVA PRESENTATION</a:t>
            </a:r>
          </a:p>
          <a:p>
            <a:br/>
            <a:pPr algn="ctr">
              <a:defRPr>
                <a:solidFill>
                  <a:srgbClr val="D9D9D9"/>
                </a:solidFill>
              </a:defRPr>
            </a:pPr>
            <a:r>
              <a:t>------------------------------------------------------------</a:t>
            </a:r>
          </a:p>
          <a:p>
            <a:pPr algn="ctr">
              <a:defRPr sz="1800" b="1">
                <a:solidFill>
                  <a:srgbClr val="1F4E79"/>
                </a:solidFill>
                <a:latin typeface="Times New Roman"/>
              </a:defRPr>
            </a:pPr>
            <a:r>
              <a:t>Presented By: B. Sowmika</a:t>
            </a:r>
          </a:p>
          <a:p>
            <a:pPr algn="ctr">
              <a:defRPr sz="1400">
                <a:solidFill>
                  <a:srgbClr val="262626"/>
                </a:solidFill>
                <a:latin typeface="Times New Roman"/>
              </a:defRPr>
            </a:pPr>
            <a:r>
              <a:t>Department of Computer Applications (MCA)</a:t>
            </a:r>
            <a:br/>
            <a:r>
              <a:t>Academic Year: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Project Abstract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Executive 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45433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Problem &amp; Need: </a:t>
            </a:r>
            <a:r>
              <a:rPr sz="1400">
                <a:solidFill>
                  <a:srgbClr val="262626"/>
                </a:solidFill>
                <a:latin typeface="Times New Roman"/>
              </a:rPr>
              <a:t>In modern higher education, traditional evaluation systems monitor academic failure reactively after end-of-semester examinations take place. Consequently, faculty and administration lack early diagnostic tools to identify at-risk students before academic degradation becomes irreversible.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Proposed Solution: </a:t>
            </a:r>
            <a:r>
              <a:rPr sz="1400">
                <a:solidFill>
                  <a:srgbClr val="262626"/>
                </a:solidFill>
                <a:latin typeface="Times New Roman"/>
              </a:rPr>
              <a:t>EduInsight is an AI-powered Decision Support System (DSS) developed using Laravel 12, Python Flask ML service, and MySQL. It continuously evaluates student attendance percentages, internal assessment marks, and exam records to calculate real-time risk scores.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Key Technologies: </a:t>
            </a:r>
            <a:r>
              <a:rPr sz="1400">
                <a:solidFill>
                  <a:srgbClr val="262626"/>
                </a:solidFill>
                <a:latin typeface="Times New Roman"/>
              </a:rPr>
              <a:t>Full-stack PHP Laravel 12 framework, Scikit-Learn Random Forest Classifier (Flask API on Port 5005), Natural Language Processing (English-to-SQL parser), SMTP Email Engine, and Tailwind CSS Dual-Theme UI.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Core Benefits: </a:t>
            </a:r>
            <a:r>
              <a:rPr sz="1400">
                <a:solidFill>
                  <a:srgbClr val="262626"/>
                </a:solidFill>
                <a:latin typeface="Times New Roman"/>
              </a:rPr>
              <a:t>Enables early advisory intervention, automates low-attendance email notifications to parents/students, provides 4 role-tailored dashboards (Admin, HOD, Faculty, Student), and delivers actionable academic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Problem Statement &amp; Institutional Challenges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1. Reactive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262626"/>
                </a:solidFill>
                <a:latin typeface="Times New Roman"/>
              </a:defRPr>
            </a:pPr>
            <a:r>
              <a:t>Current institutional systems evaluate performance post-examination, preventing timely counseling or academic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2. Data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262626"/>
                </a:solidFill>
                <a:latin typeface="Times New Roman"/>
              </a:defRPr>
            </a:pPr>
            <a:r>
              <a:t>Attendance records, internal test marks, and course rosters exist in isolated spreadsheets with no unified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3. Communication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262626"/>
                </a:solidFill>
                <a:latin typeface="Times New Roman"/>
              </a:defRPr>
            </a:pPr>
            <a:r>
              <a:t>Parents and department heads receive delayed alerts regarding student attendance deficits or failing grades.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4. Query Barriers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262626"/>
                </a:solidFill>
                <a:latin typeface="Times New Roman"/>
              </a:defRPr>
            </a:pPr>
            <a:r>
              <a:t>Faculty &amp; HODs must rely on SQL database administrators to extract custom academic reports or cohort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Existing System vs. Institutional Limitations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773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Traditional ERP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9341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Focus purely on fee transactions and administrative registration. Lack predictive analytics or ML capabilities.</a:t>
            </a:r>
          </a:p>
          <a:p>
            <a:pPr>
              <a:defRPr sz="1300" b="1">
                <a:solidFill>
                  <a:srgbClr val="C00000"/>
                </a:solidFill>
                <a:latin typeface="Times New Roman"/>
              </a:defRPr>
            </a:pPr>
            <a:r>
              <a:t>⚠️ Limitations:</a:t>
            </a:r>
          </a:p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• Manual Excel tracking</a:t>
            </a:r>
            <a:br/>
            <a:r>
              <a:t>• No predictive ML model</a:t>
            </a:r>
            <a:br/>
            <a:r>
              <a:t>• Delayed parent alerts</a:t>
            </a:r>
            <a:br/>
            <a:r>
              <a:t>• Static reporting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6773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Student Info Systems (SIS)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09341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Store static demographic data. No automated risk detection or natural language querying.</a:t>
            </a:r>
          </a:p>
          <a:p>
            <a:pPr>
              <a:defRPr sz="1300" b="1">
                <a:solidFill>
                  <a:srgbClr val="C00000"/>
                </a:solidFill>
                <a:latin typeface="Times New Roman"/>
              </a:defRPr>
            </a:pPr>
            <a:r>
              <a:t>⚠️ Limitations:</a:t>
            </a:r>
          </a:p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• Manual Excel tracking</a:t>
            </a:r>
            <a:br/>
            <a:r>
              <a:t>• No predictive ML model</a:t>
            </a:r>
            <a:br/>
            <a:r>
              <a:t>• Delayed parent alerts</a:t>
            </a:r>
            <a:br/>
            <a:r>
              <a:t>• Static reporting 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6773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Basic LMS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09341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Track assignment uploads. Do not synthesize multi-subject attendance and exam scores into unified risk scores.</a:t>
            </a:r>
          </a:p>
          <a:p>
            <a:pPr>
              <a:defRPr sz="1300" b="1">
                <a:solidFill>
                  <a:srgbClr val="C00000"/>
                </a:solidFill>
                <a:latin typeface="Times New Roman"/>
              </a:defRPr>
            </a:pPr>
            <a:r>
              <a:t>⚠️ Limitations:</a:t>
            </a:r>
          </a:p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• Manual Excel tracking</a:t>
            </a:r>
            <a:br/>
            <a:r>
              <a:t>• No predictive ML model</a:t>
            </a:r>
            <a:br/>
            <a:r>
              <a:t>• Delayed parent alerts</a:t>
            </a:r>
            <a:br/>
            <a:r>
              <a:t>• Static reporting templates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Proposed EduInsight System Workflow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731520" cy="8229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371600"/>
            <a:ext cx="990569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AI &amp; ML Engine: </a:t>
            </a:r>
            <a:r>
              <a:rPr sz="1300">
                <a:solidFill>
                  <a:srgbClr val="262626"/>
                </a:solidFill>
                <a:latin typeface="Times New Roman"/>
              </a:rPr>
              <a:t>Random Forest Classifier evaluates attendance &amp; marks to output risk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731520" cy="8229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331720"/>
            <a:ext cx="990569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NLP Query Parser: </a:t>
            </a:r>
            <a:r>
              <a:rPr sz="1300">
                <a:solidFill>
                  <a:srgbClr val="262626"/>
                </a:solidFill>
                <a:latin typeface="Times New Roman"/>
              </a:rPr>
              <a:t>Translates plain English queries into structured SQL SELECT statements.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731520" cy="8229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291840"/>
            <a:ext cx="990569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Role Dashboards: </a:t>
            </a:r>
            <a:r>
              <a:rPr sz="1300">
                <a:solidFill>
                  <a:srgbClr val="262626"/>
                </a:solidFill>
                <a:latin typeface="Times New Roman"/>
              </a:rPr>
              <a:t>Tailored portals for Admin, HOD, Faculty, and Student with real-time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731520" cy="8229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4251960"/>
            <a:ext cx="990569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Recommendation Engine: </a:t>
            </a:r>
            <a:r>
              <a:rPr sz="1300">
                <a:solidFill>
                  <a:srgbClr val="262626"/>
                </a:solidFill>
                <a:latin typeface="Times New Roman"/>
              </a:rPr>
              <a:t>Rule-driven advisory generator offering custom academic improvement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731520" cy="8229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5212080"/>
            <a:ext cx="990569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Notification Dispatch: </a:t>
            </a:r>
            <a:r>
              <a:rPr sz="1300">
                <a:solidFill>
                  <a:srgbClr val="262626"/>
                </a:solidFill>
                <a:latin typeface="Times New Roman"/>
              </a:rPr>
              <a:t>Automated SMTP email delivery for low attendance (&lt;75%) &amp; risk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Key Project Objectives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773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Predictive Risk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934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Train a Random Forest Classifier to categorize student academic risk (Low, Medium, High) based on real-time attendance and 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6773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Natural Language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0934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Implement an NLP parser (`NlpQueryParser`) to allow non-technical staff to query the database using plain English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6773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Automated Alerts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0934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Integrate SMTP notification delivery to send warning emails to students and parents when attendance drops below 75%.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37460" y="3931920"/>
            <a:ext cx="336773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37460" y="393192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RBAC Security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4620" y="4526280"/>
            <a:ext cx="30934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Enforce strict Role-Based Access Control across 4 user levels (Admin, HOD, Faculty, Student) with query scoping.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9340" y="3931920"/>
            <a:ext cx="336773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49340" y="393192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Modern Responsive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4526280"/>
            <a:ext cx="30934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Develop an intuitive, dual Light/Dark theme user interface built with Tailwind CSS, Flowbite, and Alpine.js.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Enterprise 3-Tier System Architecture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🔷 Presentation Layer (Frontend) — </a:t>
            </a:r>
            <a:r>
              <a:rPr sz="1400" b="1">
                <a:solidFill>
                  <a:srgbClr val="70AD47"/>
                </a:solidFill>
                <a:latin typeface="Times New Roman"/>
              </a:rPr>
              <a:t>Blade Templates &amp; Client Assets</a:t>
            </a:r>
          </a:p>
          <a:p>
            <a:pPr>
              <a:spcBef>
                <a:spcPts val="400"/>
              </a:spcBef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Tailwind CSS, Alpine.js, Flowbite, Chart.js</a:t>
            </a:r>
            <a:br/>
            <a:r>
              <a:t>Dual Theme Engine (Light/Dark Switcher)</a:t>
            </a:r>
            <a:br/>
            <a:r>
              <a:t>Responsive Mobile &amp; Desktop Navbars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🔷 Application Layer (Backend Server) — </a:t>
            </a:r>
            <a:r>
              <a:rPr sz="1400" b="1">
                <a:solidFill>
                  <a:srgbClr val="70AD47"/>
                </a:solidFill>
                <a:latin typeface="Times New Roman"/>
              </a:rPr>
              <a:t>Laravel 12 Framework (Port 8000)</a:t>
            </a:r>
          </a:p>
          <a:p>
            <a:pPr>
              <a:spcBef>
                <a:spcPts val="400"/>
              </a:spcBef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Authentication Middleware (Auth &amp; AuthRole)</a:t>
            </a:r>
            <a:br/>
            <a:r>
              <a:t>NlpQueryParser Engine &amp; Recommendation Service</a:t>
            </a:r>
            <a:br/>
            <a:r>
              <a:t>SMTP Email Dispatcher &amp; Audit Logger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🔷 AI Microservice &amp; Database Layer — </a:t>
            </a:r>
            <a:r>
              <a:rPr sz="1400" b="1">
                <a:solidFill>
                  <a:srgbClr val="70AD47"/>
                </a:solidFill>
                <a:latin typeface="Times New Roman"/>
              </a:rPr>
              <a:t>Python Flask API (Port 5005) &amp; MySQL</a:t>
            </a:r>
          </a:p>
          <a:p>
            <a:pPr>
              <a:spcBef>
                <a:spcPts val="400"/>
              </a:spcBef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Random Forest Classifier (`risk_prediction_model.pkl`)</a:t>
            </a:r>
            <a:br/>
            <a:r>
              <a:t>MySQL DB (`eduinsight`) with 222 Active Mapped Users</a:t>
            </a:r>
            <a:br/>
            <a:r>
              <a:t>NL Query Logs &amp; System Alerts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Complete Technology Stack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Laravel 12.x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PHP 8.2 (CLI)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Composer Package Manager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RESTful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AI &amp; ML Microservice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Python 3.10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Flask Web API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Scikit-Learn 1.3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Joblib &amp; NumPy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Database &amp;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MySQL 8.0 Engine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Laravel Eloquent ORM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222 Active Mapped Users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SQL Migrations &amp; Seeders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Frontend &amp;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Tailwind CSS 4.0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Alpine.js 3.x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Flowbite UI Library</a:t>
            </a:r>
          </a:p>
          <a:p>
            <a:pPr>
              <a:spcAft>
                <a:spcPts val="3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✔  Chart.js 4.4 Data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Artificial Intelligence &amp; Analytics Modules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1. Natural Language Processing (NLP)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Translates English text prompts into executable SQL queries (`NlpQueryParser.php`). Eliminates need for manual SQL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2. Machine Learning Risk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Random Forest model (`risk_prediction_model.pkl`) evaluates attendance and marks to output numerical risk score (0-1).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3. Recommendation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Generates contextual academic improvement plans based on student attendance thresholds and exam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4. Decision Support System (DSS)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Synthesizes multi-dimensional student data into role-based interactive Chart.js analytics for department heads and faculty.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Natural Language Processing (NLP) Execution Flow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Step 1: 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User submits plain English prompt (e.g. 'Show low attendance students').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Step 2: Intent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`NlpQueryParser` analyzes intent, key entities, and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Step 3: SQL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Converts parsed entities into valid MySQL `SELECT` query statement.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Step 4: RBAC Scoping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Applies `WHERE student_id = X` if query is executed by a student.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384048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Step 5: DB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Queries MySQL database engine and formats output array.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384048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Step 6: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Renders results into formatted data tables &amp; Chart.js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Database Design &amp; Entity Relationships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🗄️ users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Primary auth table (`role_id` 1=Admin, 2=Faculty, 3=HOD, 4=Student). Stores email &amp; password 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🗄️ students &amp; faculty &amp; 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Profile tables linked 1-to-1 with `users`. Contain employee IDs, batch, program, &amp; semester.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🗄️ courses &amp; enrollments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Stores course codes (e.g., CS201), credits, faculty assignment, &amp; student course enrollments.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🗄️ marks &amp;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Stores internal/external marks, grades, and date-wise attendance status (`present`/`absent`).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384048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🗄️ academic_risks &amp;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Stores ML risk scores, risk levels (`Low`, `Medium`, `High`), recommendations, &amp; warning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3840480"/>
            <a:ext cx="336773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🗄️ nl_queries &amp; email_logs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Logs natural language AI queries, generated SQL, execution time, and SMTP email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Complete System Modules Breakdown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Administrator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• Faculty Approval &amp; Management</a:t>
            </a:r>
            <a:br/>
            <a:r>
              <a:t>• Course Catalog Maintenance</a:t>
            </a:r>
            <a:br/>
            <a:r>
              <a:t>• Student Roster &amp; Enrollment</a:t>
            </a:r>
            <a:br/>
            <a:r>
              <a:t>• System Email Logs &amp;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HOD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• Department Performance Overview</a:t>
            </a:r>
            <a:br/>
            <a:r>
              <a:t>• Faculty Workload &amp; Courses</a:t>
            </a:r>
            <a:br/>
            <a:r>
              <a:t>• Student Cohort Analytics</a:t>
            </a:r>
            <a:br/>
            <a:r>
              <a:t>• EduInsight AI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Faculty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• Course Attendance Recording</a:t>
            </a:r>
            <a:br/>
            <a:r>
              <a:t>• Assessment Marks Entry</a:t>
            </a:r>
            <a:br/>
            <a:r>
              <a:t>• Student Risk Prediction</a:t>
            </a:r>
            <a:br/>
            <a:r>
              <a:t>• Class Email Dispatch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Student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• Personal Performance Dashboard</a:t>
            </a:r>
            <a:br/>
            <a:r>
              <a:t>• Marks &amp; Attendance Tracker</a:t>
            </a:r>
            <a:br/>
            <a:r>
              <a:t>• Risk Advisory &amp; Recommendations</a:t>
            </a:r>
            <a:br/>
            <a:r>
              <a:t>• Notifications Center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Administrator Management Workspace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Faculty 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Approve or reject pending faculty registrations and assign maximum student advisory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Course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Create, update, and manage academic course catalogs, credit allocations, and faculty assignments.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Student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Access comprehensive student records across all programs (B.Tech CSE, IT, MCA, MBA).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Email Delivery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Audit system-wide email notifications, delivery status (`sent`/`failed`), and SMTP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Faculty &amp; HOD Intelligence Workspaces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Attendance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Record date-wise class attendance with automatic percentage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Marks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Input internal and external examination scores with instant grade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ML Risk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Execute 1-click risk predictions calling Python ML API for enrolled students.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Department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HOD overview tracking department-wide pass percentages, attendance, and AI queries.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Student Personal Intelligence Portal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Executive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Track CGPA, current semester GPA, overall attendance percentage, and active risk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Attendance &amp; 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Detailed subject-wise breakdown of attendance history and midterm/final examination grades.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Risk &amp;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View AI-predicted academic risk score and customized study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5081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150815" cy="54864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Scoped AI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Ask questions about personal academic performance with automatic query security scoping.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Recommendation Engine Logic &amp; Rules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1. Data Ingestion: </a:t>
            </a:r>
            <a:r>
              <a:rPr sz="1300">
                <a:solidFill>
                  <a:srgbClr val="262626"/>
                </a:solidFill>
                <a:latin typeface="Times New Roman"/>
              </a:rPr>
              <a:t>Ingests attendance percentage, internal test marks, and external exam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2. Rule Evaluation: </a:t>
            </a:r>
            <a:r>
              <a:rPr sz="1300">
                <a:solidFill>
                  <a:srgbClr val="262626"/>
                </a:solidFill>
                <a:latin typeface="Times New Roman"/>
              </a:rPr>
              <a:t>Evaluates against institutional criteria:
- Attendance &lt; 60% (Critical Warning)
- Total Marks &lt; 40 (Failing Risk)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3. Risk Classification: </a:t>
            </a:r>
            <a:r>
              <a:rPr sz="1300">
                <a:solidFill>
                  <a:srgbClr val="262626"/>
                </a:solidFill>
                <a:latin typeface="Times New Roman"/>
              </a:rPr>
              <a:t>Maps student status into Low Risk, Medium Risk, or High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4. Advisory Generation: </a:t>
            </a:r>
            <a:r>
              <a:rPr sz="1300">
                <a:solidFill>
                  <a:srgbClr val="262626"/>
                </a:solidFill>
                <a:latin typeface="Times New Roman"/>
              </a:rPr>
              <a:t>Outputs actionable improvement steps:
- 'Schedule advisor session'
- 'Enroll in remedial tutoring'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4E79"/>
                </a:solidFill>
                <a:latin typeface="Times New Roman"/>
              </a:defRPr>
            </a:pPr>
            <a:r>
              <a:t>5. Portal Delivery: </a:t>
            </a:r>
            <a:r>
              <a:rPr sz="1300">
                <a:solidFill>
                  <a:srgbClr val="262626"/>
                </a:solidFill>
                <a:latin typeface="Times New Roman"/>
              </a:rPr>
              <a:t>Displays advisory on Student &amp; Faculty dashboards and dispatches email notifications.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Predictive Analytics &amp; Risk Detection Workflow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Step 1</a:t>
            </a:r>
            <a:br/>
            <a:br/>
            <a:r>
              <a:t>Input Features</a:t>
            </a:r>
          </a:p>
          <a:p>
            <a:br/>
            <a:pPr algn="ctr"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Attendance % + Internal Marks + External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Step 2</a:t>
            </a:r>
            <a:br/>
            <a:br/>
            <a:r>
              <a:t>StandardScaler</a:t>
            </a:r>
          </a:p>
          <a:p>
            <a:br/>
            <a:pPr algn="ctr"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Scales feature matrix to zero mean and unit 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Step 3</a:t>
            </a:r>
            <a:br/>
            <a:br/>
            <a:r>
              <a:t>Random Forest</a:t>
            </a:r>
          </a:p>
          <a:p>
            <a:br/>
            <a:pPr algn="ctr"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100 Decision Trees classify student risk probabilities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Step 4</a:t>
            </a:r>
            <a:br/>
            <a:br/>
            <a:r>
              <a:t>Risk Level Output</a:t>
            </a:r>
          </a:p>
          <a:p>
            <a:br/>
            <a:pPr algn="ctr"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Low Risk (&lt;0.33) | Medium Risk (0.33-0.66) | High Risk (&gt;0.66)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8288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  <a:latin typeface="Times New Roman"/>
              </a:defRPr>
            </a:pPr>
            <a:r>
              <a:t>Step 5</a:t>
            </a:r>
            <a:br/>
            <a:br/>
            <a:r>
              <a:t>Action Trigger</a:t>
            </a:r>
          </a:p>
          <a:p>
            <a:br/>
            <a:pPr algn="ctr">
              <a:defRPr sz="1200">
                <a:solidFill>
                  <a:srgbClr val="262626"/>
                </a:solidFill>
                <a:latin typeface="Times New Roman"/>
              </a:defRPr>
            </a:pPr>
            <a:r>
              <a:t>Dispatches warning emails &amp; logs risk record in database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Project Interface Screenshots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📸 Landing Page &amp; Role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62626"/>
                </a:solidFill>
                <a:latin typeface="Times New Roman"/>
              </a:defRPr>
            </a:pPr>
            <a:r>
              <a:t>Reference Image File:</a:t>
            </a:r>
            <a:br/>
            <a:r>
              <a:t>`output screenshots/01_Landing_Page_Light.png`</a:t>
            </a:r>
            <a:br/>
            <a:br/>
            <a:r>
              <a:t>Features:</a:t>
            </a:r>
            <a:br/>
            <a:r>
              <a:t>• Dual Light/Dark Theme Switcher</a:t>
            </a:r>
            <a:br/>
            <a:r>
              <a:t>• Responsive Dashboard Widgets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📸 Express Demo Login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62626"/>
                </a:solidFill>
                <a:latin typeface="Times New Roman"/>
              </a:defRPr>
            </a:pPr>
            <a:r>
              <a:t>Reference Image File:</a:t>
            </a:r>
            <a:br/>
            <a:r>
              <a:t>`output screenshots/02_Login_Portal_Light.png`</a:t>
            </a:r>
            <a:br/>
            <a:br/>
            <a:r>
              <a:t>Features:</a:t>
            </a:r>
            <a:br/>
            <a:r>
              <a:t>• Dual Light/Dark Theme Switcher</a:t>
            </a:r>
            <a:br/>
            <a:r>
              <a:t>• Responsive Dashboard Widgets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📸 Administrator Governance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62626"/>
                </a:solidFill>
                <a:latin typeface="Times New Roman"/>
              </a:defRPr>
            </a:pPr>
            <a:r>
              <a:t>Reference Image File:</a:t>
            </a:r>
            <a:br/>
            <a:r>
              <a:t>`output screenshots/03_Admin_Dashboard_Light.png`</a:t>
            </a:r>
            <a:br/>
            <a:br/>
            <a:r>
              <a:t>Features:</a:t>
            </a:r>
            <a:br/>
            <a:r>
              <a:t>• Dual Light/Dark Theme Switcher</a:t>
            </a:r>
            <a:br/>
            <a:r>
              <a:t>• Responsive Dashboard Widgets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📸 HOD Department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62626"/>
                </a:solidFill>
                <a:latin typeface="Times New Roman"/>
              </a:defRPr>
            </a:pPr>
            <a:r>
              <a:t>Reference Image File:</a:t>
            </a:r>
            <a:br/>
            <a:r>
              <a:t>`output screenshots/04_HOD_Dashboard_Light.png`</a:t>
            </a:r>
            <a:br/>
            <a:br/>
            <a:r>
              <a:t>Features:</a:t>
            </a:r>
            <a:br/>
            <a:r>
              <a:t>• Dual Light/Dark Theme Switcher</a:t>
            </a:r>
            <a:br/>
            <a:r>
              <a:t>• Responsive Dashboard Widgets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384048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📸 Faculty Attendance &amp;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62626"/>
                </a:solidFill>
                <a:latin typeface="Times New Roman"/>
              </a:defRPr>
            </a:pPr>
            <a:r>
              <a:t>Reference Image File:</a:t>
            </a:r>
            <a:br/>
            <a:r>
              <a:t>`output screenshots/05_Faculty_Dashboard_Light.png`</a:t>
            </a:r>
            <a:br/>
            <a:br/>
            <a:r>
              <a:t>Features:</a:t>
            </a:r>
            <a:br/>
            <a:r>
              <a:t>• Dual Light/Dark Theme Switcher</a:t>
            </a:r>
            <a:br/>
            <a:r>
              <a:t>• Responsive Dashboard Widgets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840480"/>
            <a:ext cx="336773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3840480"/>
            <a:ext cx="336773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📸 Student Intelligence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34840"/>
            <a:ext cx="3093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62626"/>
                </a:solidFill>
                <a:latin typeface="Times New Roman"/>
              </a:defRPr>
            </a:pPr>
            <a:r>
              <a:t>Reference Image File:</a:t>
            </a:r>
            <a:br/>
            <a:r>
              <a:t>`output screenshots/06_Student_Dashboard_Light.png`</a:t>
            </a:r>
            <a:br/>
            <a:br/>
            <a:r>
              <a:t>Features:</a:t>
            </a:r>
            <a:br/>
            <a:r>
              <a:t>• Dual Light/Dark Theme Switcher</a:t>
            </a:r>
            <a:br/>
            <a:r>
              <a:t>• Responsive Dashboard Widgets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Challenges &amp; Future Enhancements</a:t>
            </a:r>
          </a:p>
          <a:p>
            <a:pPr>
              <a:defRPr sz="1200">
                <a:solidFill>
                  <a:srgbClr val="BDD7EE"/>
                </a:solidFill>
                <a:latin typeface="Times New Roman"/>
              </a:defRPr>
            </a:pPr>
            <a:r>
              <a:t>MCA FINAL YEAR VIVA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5081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50815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⚡ Challenges Overcome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7649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1. Dynamic Risk Prediction: Integrating Python ML microservice seamlessly with PHP Laravel backend.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2. Natural Language Parsing: Implementing robust English-to-SQL intent mapping without external API dependencies.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3. RBAC Security Scoping: Ensuring strict data isolation for student queries.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4. Theme Consistency: Building bulletproof CSS overrides for instant Light/Dark mode switching.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50815" cy="5486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🚀 Future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87649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1. LLM Integration: Upgrade NLP parser with fine-tuned LLaMA / DeepSeek models for conversational AI.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2. Native Mobile Application: Build Flutter / React Native mobile app for push notifications.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3. University ERP Integration: Connect directly with SAP / Banner institutional ERP databases.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Times New Roman"/>
              </a:defRPr>
            </a:pPr>
            <a:r>
              <a:t>4. Explainable AI (XAI): Implement SHAP values to explain specific risk score drivers to faculty.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03520"/>
          </a:xfrm>
          <a:prstGeom prst="roundRect">
            <a:avLst/>
          </a:prstGeom>
          <a:solidFill>
            <a:srgbClr val="F2F4F8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F4E79"/>
                </a:solidFill>
                <a:latin typeface="Times New Roman"/>
              </a:defRPr>
            </a:pPr>
            <a:r>
              <a:t>Thank You!</a:t>
            </a:r>
          </a:p>
          <a:p>
            <a:pPr algn="ctr">
              <a:spcBef>
                <a:spcPts val="1500"/>
              </a:spcBef>
              <a:defRPr sz="2000" b="1">
                <a:solidFill>
                  <a:srgbClr val="2F75B5"/>
                </a:solidFill>
                <a:latin typeface="Times New Roman"/>
              </a:defRPr>
            </a:pPr>
            <a:r>
              <a:t>EduInsight: A Predictive Analytics System for Student Performance Analysis</a:t>
            </a:r>
          </a:p>
          <a:p>
            <a:br/>
            <a:pPr algn="ctr">
              <a:defRPr sz="1600">
                <a:solidFill>
                  <a:srgbClr val="262626"/>
                </a:solidFill>
                <a:latin typeface="Times New Roman"/>
              </a:defRPr>
            </a:pPr>
            <a:r>
              <a:t>Questions &amp; Technical Discussion</a:t>
            </a:r>
            <a:br/>
            <a:r>
              <a:t>Presented By: B. Sowmika (MCA Final Year)</a:t>
            </a:r>
          </a:p>
          <a:p>
            <a:br/>
            <a:pPr algn="ctr">
              <a:defRPr sz="1400" b="1">
                <a:solidFill>
                  <a:srgbClr val="70AD47"/>
                </a:solidFill>
                <a:latin typeface="Times New Roman"/>
              </a:defRPr>
            </a:pPr>
            <a:r>
              <a:t>GitHub Repository: https://github.com/Sowmika-03/eduinsight.git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