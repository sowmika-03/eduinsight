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6" r:id="rId10"/>
    <p:sldId id="267" r:id="rId11"/>
    <p:sldId id="268" r:id="rId12"/>
    <p:sldId id="277" r:id="rId13"/>
    <p:sldId id="269" r:id="rId14"/>
    <p:sldId id="278" r:id="rId15"/>
    <p:sldId id="279" r:id="rId16"/>
    <p:sldId id="270" r:id="rId17"/>
    <p:sldId id="280" r:id="rId18"/>
    <p:sldId id="264" r:id="rId19"/>
    <p:sldId id="281" r:id="rId20"/>
    <p:sldId id="284" r:id="rId21"/>
    <p:sldId id="265" r:id="rId22"/>
    <p:sldId id="282" r:id="rId23"/>
    <p:sldId id="266" r:id="rId24"/>
    <p:sldId id="285" r:id="rId25"/>
    <p:sldId id="271" r:id="rId26"/>
    <p:sldId id="28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5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91440" cy="6858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357120"/>
            <a:ext cx="10362895" cy="4318000"/>
          </a:xfrm>
          <a:prstGeom prst="roundRect">
            <a:avLst/>
          </a:prstGeom>
          <a:solidFill>
            <a:srgbClr val="F2F4F8"/>
          </a:solidFill>
          <a:ln w="2540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800" b="1">
                <a:solidFill>
                  <a:srgbClr val="1F4E79"/>
                </a:solidFill>
                <a:latin typeface="Times New Roman"/>
              </a:defRPr>
            </a:pPr>
            <a:r>
              <a:rPr sz="4500" dirty="0" err="1"/>
              <a:t>EduInsight</a:t>
            </a:r>
            <a:endParaRPr sz="4500" dirty="0"/>
          </a:p>
          <a:p>
            <a:pPr algn="ctr">
              <a:spcBef>
                <a:spcPts val="800"/>
              </a:spcBef>
              <a:defRPr sz="2200" b="1">
                <a:solidFill>
                  <a:srgbClr val="2F75B5"/>
                </a:solidFill>
                <a:latin typeface="Times New Roman"/>
              </a:defRPr>
            </a:pPr>
            <a:r>
              <a:rPr sz="3000" dirty="0"/>
              <a:t>A Predictive Analytics System for Student Performance Analysis</a:t>
            </a:r>
          </a:p>
          <a:p>
            <a:br>
              <a:rPr dirty="0"/>
            </a:br>
            <a:r>
              <a:rPr dirty="0"/>
              <a:t>------------------------------------------------------------</a:t>
            </a:r>
          </a:p>
          <a:p>
            <a:pPr algn="ctr">
              <a:defRPr sz="1800" b="1">
                <a:solidFill>
                  <a:srgbClr val="1F4E79"/>
                </a:solidFill>
                <a:latin typeface="Times New Roman"/>
              </a:defRPr>
            </a:pPr>
            <a:r>
              <a:rPr dirty="0"/>
              <a:t>Presented By: </a:t>
            </a:r>
            <a:r>
              <a:rPr lang="en-US" dirty="0"/>
              <a:t>                                                                                                       GUIDE:</a:t>
            </a:r>
          </a:p>
          <a:p>
            <a:pPr algn="ctr">
              <a:defRPr sz="1800" b="1">
                <a:solidFill>
                  <a:srgbClr val="1F4E79"/>
                </a:solidFill>
                <a:latin typeface="Times New Roman"/>
              </a:defRPr>
            </a:pPr>
            <a:r>
              <a:rPr lang="en-US" dirty="0"/>
              <a:t>    </a:t>
            </a:r>
            <a:r>
              <a:rPr dirty="0"/>
              <a:t>B. </a:t>
            </a:r>
            <a:r>
              <a:rPr lang="en-US" dirty="0"/>
              <a:t>SOWMIKA                                                                                                  CH.RAVALI</a:t>
            </a:r>
            <a:endParaRPr lang="en-IN" dirty="0"/>
          </a:p>
          <a:p>
            <a:pPr algn="just">
              <a:defRPr sz="1400">
                <a:solidFill>
                  <a:srgbClr val="262626"/>
                </a:solidFill>
                <a:latin typeface="Times New Roman"/>
              </a:defRPr>
            </a:pPr>
            <a:r>
              <a:rPr lang="en-US" dirty="0"/>
              <a:t>                    24H71F0013                                                                                                                                       Assistant Professor                                       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EE77E3-013B-6621-B6AB-8F68A3B0E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127" y="480695"/>
            <a:ext cx="10830560" cy="13957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sz="3500" dirty="0"/>
              <a:t>ABSTRACT</a:t>
            </a:r>
            <a:endParaRPr sz="3500" dirty="0"/>
          </a:p>
          <a:p>
            <a:pPr>
              <a:defRPr sz="1200">
                <a:solidFill>
                  <a:srgbClr val="BDD7EE"/>
                </a:solidFill>
                <a:latin typeface="Times New Roman"/>
              </a:defRPr>
            </a:pP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Executive Abstract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88820"/>
            <a:ext cx="10454335" cy="36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1000"/>
              </a:spcAft>
            </a:pPr>
            <a:r>
              <a:rPr sz="1400" b="1" dirty="0">
                <a:solidFill>
                  <a:srgbClr val="1F4E79"/>
                </a:solidFill>
                <a:latin typeface="Times New Roman"/>
              </a:rPr>
              <a:t>Problem &amp; Need: </a:t>
            </a:r>
            <a:r>
              <a:rPr sz="1400" dirty="0">
                <a:solidFill>
                  <a:srgbClr val="262626"/>
                </a:solidFill>
                <a:latin typeface="Times New Roman"/>
              </a:rPr>
              <a:t>In modern higher education, traditional evaluation systems monitor academic failure reactively after end-of-semester examinations take place. Consequently, faculty and administration lack early diagnostic tools to identify at-risk students before academic degradation becomes irreversible.</a:t>
            </a:r>
          </a:p>
          <a:p>
            <a:pPr algn="just">
              <a:lnSpc>
                <a:spcPct val="150000"/>
              </a:lnSpc>
              <a:spcAft>
                <a:spcPts val="1000"/>
              </a:spcAft>
            </a:pPr>
            <a:r>
              <a:rPr sz="1400" b="1" dirty="0">
                <a:solidFill>
                  <a:srgbClr val="1F4E79"/>
                </a:solidFill>
                <a:latin typeface="Times New Roman"/>
              </a:rPr>
              <a:t>Proposed Solution: </a:t>
            </a:r>
            <a:r>
              <a:rPr sz="1400" dirty="0" err="1">
                <a:solidFill>
                  <a:srgbClr val="262626"/>
                </a:solidFill>
                <a:latin typeface="Times New Roman"/>
              </a:rPr>
              <a:t>EduInsight</a:t>
            </a:r>
            <a:r>
              <a:rPr sz="1400" dirty="0">
                <a:solidFill>
                  <a:srgbClr val="262626"/>
                </a:solidFill>
                <a:latin typeface="Times New Roman"/>
              </a:rPr>
              <a:t> is an AI-powered Decision Support System (DSS) developed using Laravel 12, Python Flask ML service, and MySQL. It continuously evaluates student attendance percentages, internal assessment marks, and exam records to calculate real-time risk scores.</a:t>
            </a:r>
          </a:p>
          <a:p>
            <a:pPr algn="just">
              <a:lnSpc>
                <a:spcPct val="150000"/>
              </a:lnSpc>
              <a:spcAft>
                <a:spcPts val="1000"/>
              </a:spcAft>
            </a:pPr>
            <a:r>
              <a:rPr sz="1400" b="1" dirty="0">
                <a:solidFill>
                  <a:srgbClr val="1F4E79"/>
                </a:solidFill>
                <a:latin typeface="Times New Roman"/>
              </a:rPr>
              <a:t>Key Technologies: </a:t>
            </a:r>
            <a:r>
              <a:rPr sz="1400" dirty="0">
                <a:solidFill>
                  <a:srgbClr val="262626"/>
                </a:solidFill>
                <a:latin typeface="Times New Roman"/>
              </a:rPr>
              <a:t>Full-stack PHP Laravel 12 framework, Scikit-Learn Random Forest Classifier (Flask API on Port 5005), Natural Language Processing (English-to-SQL parser), SMTP Email Engine, and Tailwind CSS Dual-Theme UI.</a:t>
            </a:r>
          </a:p>
          <a:p>
            <a:pPr algn="just">
              <a:lnSpc>
                <a:spcPct val="150000"/>
              </a:lnSpc>
              <a:spcAft>
                <a:spcPts val="1000"/>
              </a:spcAft>
            </a:pPr>
            <a:r>
              <a:rPr sz="1400" b="1" dirty="0">
                <a:solidFill>
                  <a:srgbClr val="1F4E79"/>
                </a:solidFill>
                <a:latin typeface="Times New Roman"/>
              </a:rPr>
              <a:t>Core Benefits: </a:t>
            </a:r>
            <a:r>
              <a:rPr sz="1400" dirty="0">
                <a:solidFill>
                  <a:srgbClr val="262626"/>
                </a:solidFill>
                <a:latin typeface="Times New Roman"/>
              </a:rPr>
              <a:t>Enables early advisory intervention, automates low-attendance email notifications to parents/students, provides 4 role-tailored dashboards (Admin, HOD, Faculty, Student), and delivers actionable academic recommendations.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sz="3500" dirty="0"/>
              <a:t>Problem Statement &amp; </a:t>
            </a:r>
            <a:r>
              <a:rPr sz="3500" dirty="0" err="1"/>
              <a:t>Instit</a:t>
            </a:r>
            <a:r>
              <a:rPr lang="en-IN" sz="3500" dirty="0" err="1"/>
              <a:t>utional</a:t>
            </a:r>
            <a:r>
              <a:rPr lang="en-IN" sz="3500" dirty="0"/>
              <a:t> </a:t>
            </a:r>
            <a:r>
              <a:rPr sz="3500" dirty="0"/>
              <a:t>Challenges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06164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1. Reactive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9839" y="1994355"/>
            <a:ext cx="4084321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4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Current institutional systems evaluate performance post-examination, preventing timely counseling or academic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2. Data Fragmentation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3855" y="1965960"/>
            <a:ext cx="387126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4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Attendance records, internal test marks, and course rosters exist in isolated spreadsheets with no unified analytics.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3. Communication Gaps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9839" y="4434840"/>
            <a:ext cx="4084322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4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Parents and department heads receive delayed alerts regarding student attendance deficits or failing grades.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4. Query Barriers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3855" y="4434840"/>
            <a:ext cx="4043986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4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Faculty &amp; HODs must rely on SQL database administrators to extract custom academic reports or cohort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sz="3500" dirty="0"/>
              <a:t>Existing System vs. Institutional Limitations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6773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lang="en-IN" dirty="0"/>
              <a:t>Traditional ERP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3093415" cy="3920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spcAft>
                <a:spcPts val="14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Focus purely on fee transactions and administrative registration. Lack predictive analytics or ML capabilities.</a:t>
            </a:r>
          </a:p>
          <a:p>
            <a:pPr>
              <a:lnSpc>
                <a:spcPct val="150000"/>
              </a:lnSpc>
              <a:defRPr sz="1300" b="1">
                <a:solidFill>
                  <a:srgbClr val="C00000"/>
                </a:solidFill>
                <a:latin typeface="Times New Roman"/>
              </a:defRPr>
            </a:pPr>
            <a:r>
              <a:rPr sz="1600" dirty="0"/>
              <a:t>⚠️ Limitations:</a:t>
            </a:r>
          </a:p>
          <a:p>
            <a:pPr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• Manual Excel tracking</a:t>
            </a:r>
            <a:br>
              <a:rPr sz="1600" dirty="0"/>
            </a:br>
            <a:r>
              <a:rPr sz="1600" dirty="0"/>
              <a:t>• No predictive ML model</a:t>
            </a:r>
            <a:br>
              <a:rPr sz="1600" dirty="0"/>
            </a:br>
            <a:r>
              <a:rPr sz="1600" dirty="0"/>
              <a:t>• Delayed parent alerts</a:t>
            </a:r>
            <a:br>
              <a:rPr sz="1600" dirty="0"/>
            </a:br>
            <a:r>
              <a:rPr sz="1600" dirty="0"/>
              <a:t>• Static reporting templates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36773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Student Info Systems (SIS)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093415" cy="3551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lang="en-US" sz="1600" dirty="0"/>
          </a:p>
          <a:p>
            <a:pPr algn="just">
              <a:lnSpc>
                <a:spcPct val="150000"/>
              </a:lnSpc>
              <a:spcAft>
                <a:spcPts val="14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lang="en-US" sz="1600" dirty="0"/>
              <a:t>Store static demographic data. No automated risk detection or natural language querying.</a:t>
            </a:r>
          </a:p>
          <a:p>
            <a:pPr>
              <a:lnSpc>
                <a:spcPct val="150000"/>
              </a:lnSpc>
              <a:defRPr sz="1300" b="1">
                <a:solidFill>
                  <a:srgbClr val="C00000"/>
                </a:solidFill>
                <a:latin typeface="Times New Roman"/>
              </a:defRPr>
            </a:pPr>
            <a:r>
              <a:rPr lang="en-US" sz="1600" dirty="0"/>
              <a:t>⚠️ Limitations:</a:t>
            </a:r>
          </a:p>
          <a:p>
            <a:pPr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lang="en-US" sz="1600" dirty="0"/>
              <a:t>• Manual Excel tracking</a:t>
            </a:r>
            <a:br>
              <a:rPr lang="en-US" sz="1600" dirty="0"/>
            </a:br>
            <a:r>
              <a:rPr lang="en-US" sz="1600" dirty="0"/>
              <a:t>• No predictive ML model</a:t>
            </a:r>
            <a:br>
              <a:rPr lang="en-US" sz="1600" dirty="0"/>
            </a:br>
            <a:r>
              <a:rPr lang="en-US" sz="1600" dirty="0"/>
              <a:t>• Delayed parent alerts</a:t>
            </a:r>
            <a:br>
              <a:rPr lang="en-US" sz="1600" dirty="0"/>
            </a:br>
            <a:r>
              <a:rPr lang="en-US" sz="1600" dirty="0"/>
              <a:t>• Static reporting templates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71600"/>
            <a:ext cx="336773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Basic LMS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965960"/>
            <a:ext cx="3093415" cy="3920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spcAft>
                <a:spcPts val="14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Track assignment uploads. Do not synthesize multi-subject attendance and exam scores into unified risk scores.</a:t>
            </a:r>
          </a:p>
          <a:p>
            <a:pPr>
              <a:lnSpc>
                <a:spcPct val="150000"/>
              </a:lnSpc>
              <a:defRPr sz="1300" b="1">
                <a:solidFill>
                  <a:srgbClr val="C00000"/>
                </a:solidFill>
                <a:latin typeface="Times New Roman"/>
              </a:defRPr>
            </a:pPr>
            <a:r>
              <a:rPr sz="1600" dirty="0"/>
              <a:t>⚠️ Limitations:</a:t>
            </a:r>
          </a:p>
          <a:p>
            <a:pPr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• Manual Excel tracking</a:t>
            </a:r>
            <a:br>
              <a:rPr sz="1600" dirty="0"/>
            </a:br>
            <a:r>
              <a:rPr sz="1600" dirty="0"/>
              <a:t>• No predictive ML model</a:t>
            </a:r>
            <a:br>
              <a:rPr sz="1600" dirty="0"/>
            </a:br>
            <a:r>
              <a:rPr sz="1600" dirty="0"/>
              <a:t>• Delayed parent alerts</a:t>
            </a:r>
            <a:br>
              <a:rPr sz="1600" dirty="0"/>
            </a:br>
            <a:r>
              <a:rPr sz="1600" dirty="0"/>
              <a:t>• Static reporting templates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sz="3500" dirty="0"/>
              <a:t>Proposed </a:t>
            </a:r>
            <a:r>
              <a:rPr sz="3500" dirty="0" err="1"/>
              <a:t>EduInsight</a:t>
            </a:r>
            <a:r>
              <a:rPr sz="3500" dirty="0"/>
              <a:t> Sy</a:t>
            </a:r>
            <a:r>
              <a:rPr lang="en-IN" sz="3500" dirty="0"/>
              <a:t>stem</a:t>
            </a:r>
            <a:endParaRPr sz="3500" dirty="0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731520" cy="8229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371600"/>
            <a:ext cx="99056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t>AI &amp; ML Engine: </a:t>
            </a:r>
            <a:r>
              <a:rPr sz="1300">
                <a:solidFill>
                  <a:srgbClr val="262626"/>
                </a:solidFill>
                <a:latin typeface="Times New Roman"/>
              </a:rPr>
              <a:t>Random Forest Classifier evaluates attendance &amp; marks to output risk scores.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731520" cy="8229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331720"/>
            <a:ext cx="99056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t>NLP Query Parser: </a:t>
            </a:r>
            <a:r>
              <a:rPr sz="1300">
                <a:solidFill>
                  <a:srgbClr val="262626"/>
                </a:solidFill>
                <a:latin typeface="Times New Roman"/>
              </a:rPr>
              <a:t>Translates plain English queries into structured SQL SELECT statements.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731520" cy="8229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91840"/>
            <a:ext cx="99056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t>Role Dashboards: </a:t>
            </a:r>
            <a:r>
              <a:rPr sz="1300">
                <a:solidFill>
                  <a:srgbClr val="262626"/>
                </a:solidFill>
                <a:latin typeface="Times New Roman"/>
              </a:rPr>
              <a:t>Tailored portals for Admin, HOD, Faculty, and Student with real-time charts.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60"/>
            <a:ext cx="731520" cy="8229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4251960"/>
            <a:ext cx="99056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t>Recommendation Engine: </a:t>
            </a:r>
            <a:r>
              <a:rPr sz="1300">
                <a:solidFill>
                  <a:srgbClr val="262626"/>
                </a:solidFill>
                <a:latin typeface="Times New Roman"/>
              </a:rPr>
              <a:t>Rule-driven advisory generator offering custom academic improvement steps.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731520" cy="8229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5212080"/>
            <a:ext cx="99056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t>Notification Dispatch: </a:t>
            </a:r>
            <a:r>
              <a:rPr sz="1300">
                <a:solidFill>
                  <a:srgbClr val="262626"/>
                </a:solidFill>
                <a:latin typeface="Times New Roman"/>
              </a:rPr>
              <a:t>Automated SMTP email delivery for low attendance (&lt;75%) &amp; risk alerts.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sz="3500" dirty="0"/>
              <a:t>Key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6773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Predictive Risk 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3093415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Train a Random Forest Classifier to categorize student academic risk (Low, Medium, High) based on real-time attendance and marks.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36773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Natural Language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093415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Implement an NLP parser (`</a:t>
            </a:r>
            <a:r>
              <a:rPr sz="1600" dirty="0" err="1"/>
              <a:t>NlpQueryParser</a:t>
            </a:r>
            <a:r>
              <a:rPr sz="1600" dirty="0"/>
              <a:t>`) to allow non-technical staff to query the database using plain English 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71600"/>
            <a:ext cx="336773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Automated Alerts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965960"/>
            <a:ext cx="3093415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Integrate SMTP notification delivery to send warning emails to students and parents when attendance drops below 75%.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7460" y="3931920"/>
            <a:ext cx="336773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537460" y="393192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RBAC Security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4620" y="4526280"/>
            <a:ext cx="3093415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Enforce strict Role-Based Access Control across 4 user levels (Admin, HOD, Faculty, Student) with query scoping.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9340" y="3931920"/>
            <a:ext cx="3367735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49340" y="393192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Modern Responsive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0" y="4526280"/>
            <a:ext cx="3093415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Develop an intuitive, dual Light/Dark theme user interface built with Tailwind CSS, </a:t>
            </a:r>
            <a:r>
              <a:rPr sz="1600" dirty="0" err="1"/>
              <a:t>Flowbite</a:t>
            </a:r>
            <a:r>
              <a:rPr sz="1600" dirty="0"/>
              <a:t>, and Alpine.js.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Enterprise 3-Tier System Architecture</a:t>
            </a:r>
          </a:p>
          <a:p>
            <a:pPr>
              <a:defRPr sz="1200">
                <a:solidFill>
                  <a:srgbClr val="BDD7EE"/>
                </a:solidFill>
                <a:latin typeface="Times New Roman"/>
              </a:defRPr>
            </a:pPr>
            <a:r>
              <a:t>MCA FINAL YEAR VIVA 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1" y="1371600"/>
            <a:ext cx="4988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rPr dirty="0"/>
              <a:t>🔷 Presentation Layer (Frontend) </a:t>
            </a:r>
            <a:endParaRPr sz="1400" b="1" dirty="0">
              <a:solidFill>
                <a:srgbClr val="70AD47"/>
              </a:solidFill>
              <a:latin typeface="Times New Roman"/>
            </a:endParaRPr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Tailwind CSS, Alpine.js, </a:t>
            </a:r>
            <a:r>
              <a:rPr dirty="0" err="1"/>
              <a:t>Flowbite</a:t>
            </a:r>
            <a:r>
              <a:rPr dirty="0"/>
              <a:t>, Chart.js</a:t>
            </a:r>
            <a:endParaRPr lang="en-US" dirty="0"/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Dual Theme Engine (Light/Dark Switcher)</a:t>
            </a:r>
            <a:endParaRPr lang="en-US" dirty="0"/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Responsive Mobile &amp; Desktop Navbars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4988561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rPr dirty="0"/>
              <a:t>🔷 Application Layer (Backend Server) </a:t>
            </a:r>
            <a:endParaRPr sz="1400" b="1" dirty="0">
              <a:solidFill>
                <a:srgbClr val="70AD47"/>
              </a:solidFill>
              <a:latin typeface="Times New Roman"/>
            </a:endParaRPr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Authentication Middleware (Auth &amp; </a:t>
            </a:r>
            <a:r>
              <a:rPr dirty="0" err="1"/>
              <a:t>AuthRole</a:t>
            </a:r>
            <a:r>
              <a:rPr dirty="0"/>
              <a:t>)</a:t>
            </a:r>
            <a:endParaRPr lang="en-US" dirty="0"/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 err="1"/>
              <a:t>NlpQueryParser</a:t>
            </a:r>
            <a:r>
              <a:rPr dirty="0"/>
              <a:t> Engine &amp; Recommendation Service</a:t>
            </a:r>
            <a:endParaRPr lang="en-US" dirty="0"/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SMTP Email Dispatcher &amp; Audit Logger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4988561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rPr dirty="0"/>
              <a:t>🔷 AI Microservice &amp; Database Layer </a:t>
            </a:r>
            <a:endParaRPr sz="1400" b="1" dirty="0">
              <a:solidFill>
                <a:srgbClr val="70AD47"/>
              </a:solidFill>
              <a:latin typeface="Times New Roman"/>
            </a:endParaRPr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Random Forest Classifier (`</a:t>
            </a:r>
            <a:r>
              <a:rPr dirty="0" err="1"/>
              <a:t>risk_prediction_model.pkl</a:t>
            </a:r>
            <a:r>
              <a:rPr dirty="0"/>
              <a:t>`)</a:t>
            </a:r>
            <a:endParaRPr lang="en-US" dirty="0"/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MySQL DB (`</a:t>
            </a:r>
            <a:r>
              <a:rPr dirty="0" err="1"/>
              <a:t>eduinsight</a:t>
            </a:r>
            <a:r>
              <a:rPr dirty="0"/>
              <a:t>`) with 222 Active Mapped Users</a:t>
            </a:r>
            <a:endParaRPr lang="en-US" dirty="0"/>
          </a:p>
          <a:p>
            <a:pPr marL="171450" indent="-171450">
              <a:lnSpc>
                <a:spcPct val="15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NL Query Logs &amp; System Alerts Storage</a:t>
            </a:r>
          </a:p>
        </p:txBody>
      </p:sp>
      <p:pic>
        <p:nvPicPr>
          <p:cNvPr id="9" name="Content Placeholder 7">
            <a:extLst>
              <a:ext uri="{FF2B5EF4-FFF2-40B4-BE49-F238E27FC236}">
                <a16:creationId xmlns:a16="http://schemas.microsoft.com/office/drawing/2014/main" id="{DD0C8029-CB94-2D57-E3B0-29F08BE85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154" y="1270433"/>
            <a:ext cx="5697166" cy="59431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sz="3500" dirty="0"/>
              <a:t>Technology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Backend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876495" cy="1371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Laravel 12.x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PHP 8.2 (CLI)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Composer Package Manager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RESTful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AI &amp; ML Microservice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65960"/>
            <a:ext cx="4876495" cy="1371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Python 3.10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Flask Web API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Scikit-Learn 1.3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</a:t>
            </a:r>
            <a:r>
              <a:rPr dirty="0" err="1"/>
              <a:t>Joblib</a:t>
            </a:r>
            <a:r>
              <a:rPr dirty="0"/>
              <a:t> &amp; NumPy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Database &amp; 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4876495" cy="1371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MySQL 8.0 Engine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Laravel Eloquent ORM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222 Active Mapped Users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SQL Migrations &amp; Seeders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Frontend &amp;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434840"/>
            <a:ext cx="4876495" cy="1371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Tailwind CSS 4.0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Alpine.js 3.x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</a:t>
            </a:r>
            <a:r>
              <a:rPr dirty="0" err="1"/>
              <a:t>Flowbite</a:t>
            </a:r>
            <a:r>
              <a:rPr dirty="0"/>
              <a:t> UI Library</a:t>
            </a:r>
          </a:p>
          <a:p>
            <a:pPr>
              <a:lnSpc>
                <a:spcPct val="150000"/>
              </a:lnSpc>
              <a:spcAft>
                <a:spcPts val="3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✔  Chart.js 4.4 Data Charts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D01BD-C446-72BF-381E-FFCAA18DE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8B16D-5456-35E0-5C45-6738C30167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1F5E1F6-6DAC-84DB-D752-F9FC3CC6F040}"/>
              </a:ext>
            </a:extLst>
          </p:cNvPr>
          <p:cNvSpPr/>
          <p:nvPr/>
        </p:nvSpPr>
        <p:spPr>
          <a:xfrm>
            <a:off x="812800" y="487680"/>
            <a:ext cx="10362895" cy="5303520"/>
          </a:xfrm>
          <a:prstGeom prst="roundRect">
            <a:avLst/>
          </a:prstGeom>
          <a:solidFill>
            <a:srgbClr val="F2F4F8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4400" b="1">
                <a:solidFill>
                  <a:srgbClr val="1F4E79"/>
                </a:solidFill>
                <a:latin typeface="Times New Roman"/>
              </a:defRPr>
            </a:pPr>
            <a:r>
              <a:rPr lang="en-US" dirty="0"/>
              <a:t>MODULES &amp; OUTPUT </a:t>
            </a:r>
            <a:endParaRPr dirty="0"/>
          </a:p>
          <a:p>
            <a:br>
              <a:rPr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0085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Complete System Modules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Administrator Module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876495" cy="1256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• Faculty Approval &amp; Management</a:t>
            </a:r>
            <a:br>
              <a:rPr dirty="0"/>
            </a:br>
            <a:r>
              <a:rPr dirty="0"/>
              <a:t>• Course Catalog Maintenance</a:t>
            </a:r>
            <a:br>
              <a:rPr dirty="0"/>
            </a:br>
            <a:r>
              <a:rPr dirty="0"/>
              <a:t>• Student Roster &amp; Enrollment</a:t>
            </a:r>
            <a:br>
              <a:rPr dirty="0"/>
            </a:br>
            <a:r>
              <a:rPr dirty="0"/>
              <a:t>• System Email Logs &amp; Audit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HOD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65960"/>
            <a:ext cx="4876495" cy="1256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lang="en-IN" dirty="0"/>
              <a:t>•</a:t>
            </a:r>
            <a:r>
              <a:rPr dirty="0"/>
              <a:t> Department Performance Overview</a:t>
            </a:r>
            <a:br>
              <a:rPr dirty="0"/>
            </a:br>
            <a:r>
              <a:rPr dirty="0"/>
              <a:t>• Faculty Workload &amp; Courses</a:t>
            </a:r>
            <a:br>
              <a:rPr dirty="0"/>
            </a:br>
            <a:r>
              <a:rPr dirty="0"/>
              <a:t>• Student Cohort Analytics</a:t>
            </a:r>
            <a:br>
              <a:rPr dirty="0"/>
            </a:br>
            <a:r>
              <a:rPr dirty="0"/>
              <a:t>• </a:t>
            </a:r>
            <a:r>
              <a:rPr dirty="0" err="1"/>
              <a:t>EduInsight</a:t>
            </a:r>
            <a:r>
              <a:rPr dirty="0"/>
              <a:t> AI Assistant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Faculty Module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4876495" cy="1256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• Course Attendance Recording</a:t>
            </a:r>
            <a:br>
              <a:rPr dirty="0"/>
            </a:br>
            <a:r>
              <a:rPr dirty="0"/>
              <a:t>• Assessment Marks Entry</a:t>
            </a:r>
            <a:br>
              <a:rPr dirty="0"/>
            </a:br>
            <a:r>
              <a:rPr dirty="0"/>
              <a:t>• Student Risk Prediction</a:t>
            </a:r>
            <a:br>
              <a:rPr dirty="0"/>
            </a:br>
            <a:r>
              <a:rPr dirty="0"/>
              <a:t>• Class Email Dispatch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Student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434840"/>
            <a:ext cx="4876495" cy="1256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• Personal Performance Dashboard</a:t>
            </a:r>
            <a:br>
              <a:rPr dirty="0"/>
            </a:br>
            <a:r>
              <a:rPr dirty="0"/>
              <a:t>• Marks &amp; Attendance Tracker</a:t>
            </a:r>
            <a:br>
              <a:rPr dirty="0"/>
            </a:br>
            <a:r>
              <a:rPr dirty="0"/>
              <a:t>• Risk Advisory &amp; Recommendations</a:t>
            </a:r>
            <a:br>
              <a:rPr dirty="0"/>
            </a:br>
            <a:r>
              <a:rPr dirty="0"/>
              <a:t>• Notifications Center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t>Administrator Management Workspace</a:t>
            </a:r>
          </a:p>
          <a:p>
            <a:pPr>
              <a:defRPr sz="1200">
                <a:solidFill>
                  <a:srgbClr val="BDD7EE"/>
                </a:solidFill>
                <a:latin typeface="Times New Roman"/>
              </a:defRPr>
            </a:pPr>
            <a:r>
              <a:t>MCA FINAL YEAR VIVA 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Faculty Approvals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87649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Approve or reject pending faculty registrations and assign maximum student advisory capacity.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Course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65960"/>
            <a:ext cx="487649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300">
                <a:solidFill>
                  <a:srgbClr val="262626"/>
                </a:solidFill>
                <a:latin typeface="Times New Roman"/>
              </a:defRPr>
            </a:pPr>
            <a:r>
              <a:t>Create, update, and manage academic course catalogs, credit allocations, and faculty assignments.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Student Directory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487649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300">
                <a:solidFill>
                  <a:srgbClr val="262626"/>
                </a:solidFill>
                <a:latin typeface="Times New Roman"/>
              </a:defRPr>
            </a:pPr>
            <a:r>
              <a:t>Access comprehensive student records across all programs (B.Tech CSE, IT, MCA, MBA).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Email Delivery 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434840"/>
            <a:ext cx="487649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300">
                <a:solidFill>
                  <a:srgbClr val="262626"/>
                </a:solidFill>
                <a:latin typeface="Times New Roman"/>
              </a:defRPr>
            </a:pPr>
            <a:r>
              <a:t>Audit system-wide email notifications, delivery status (`sent`/`failed`), and SMTP logs.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788C4-E975-BF36-0562-7354436CA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920DEC-6BD8-FDC9-78F4-6320E97CB01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AED4A40-834D-5657-8DD4-9371AF6EFCE9}"/>
              </a:ext>
            </a:extLst>
          </p:cNvPr>
          <p:cNvSpPr/>
          <p:nvPr/>
        </p:nvSpPr>
        <p:spPr>
          <a:xfrm>
            <a:off x="914400" y="731520"/>
            <a:ext cx="10362895" cy="5303520"/>
          </a:xfrm>
          <a:prstGeom prst="roundRect">
            <a:avLst/>
          </a:prstGeom>
          <a:solidFill>
            <a:srgbClr val="F2F4F8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05E7E-0CFA-E65F-0802-5818E3349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6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040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Faculty &amp; HOD Intelligence Workspaces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Attendance Entry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876495" cy="1063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Record date-wise class attendance with automatic percentage calculations.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Marks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65960"/>
            <a:ext cx="487649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Input internal and external examination scores with instant grade generation.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ML Risk 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487649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Execute 1-click risk predictions calling Python ML API for enrolled students.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Department 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434840"/>
            <a:ext cx="4876495" cy="1072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dirty="0"/>
              <a:t>HOD overview tracking department-wide pass percentages, attendance, and AI queries.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1F9E76-9262-0061-6606-5E7D1A731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880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3D0B09-2590-D0EB-DAAF-4F1E2E58A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536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Student Personal Intelligence 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Executive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87649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endParaRPr lang="en-US" sz="1600"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Track CGPA, current semester GPA, overall attendance percentage, and active risk level.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Attendance &amp; Marks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65960"/>
            <a:ext cx="4876495" cy="1063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Detailed subject-wise breakdown of attendance history and midterm/final examination grades.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Risk &amp; Recommendations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487649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View AI-predicted academic risk score and customized study recommendations.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Scoped AI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434840"/>
            <a:ext cx="487649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Ask questions about personal academic performance with automatic query security scoping.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5DD1C2-48A4-23E7-4C34-D967AF04D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677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Artificial Intelligence &amp; Analytics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1. Natural Language Processing (NLP)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87649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Translates English text prompts into executable SQL queries (`</a:t>
            </a:r>
            <a:r>
              <a:rPr sz="1600" dirty="0" err="1"/>
              <a:t>NlpQueryParser.php</a:t>
            </a:r>
            <a:r>
              <a:rPr sz="1600" dirty="0"/>
              <a:t>`). Eliminates need for manual SQL knowledge.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2. Machine Learning Risk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65960"/>
            <a:ext cx="487649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Random Forest model (`</a:t>
            </a:r>
            <a:r>
              <a:rPr sz="1600" dirty="0" err="1"/>
              <a:t>risk_prediction_model.pkl</a:t>
            </a:r>
            <a:r>
              <a:rPr sz="1600" dirty="0"/>
              <a:t>`) evaluates attendance and marks to output numerical risk score (0-1).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3. Recommendation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487649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Generates contextual academic improvement plans based on student attendance thresholds and exam performance.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1508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15081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4. Decision Support System (DSS)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434840"/>
            <a:ext cx="4876495" cy="149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Synthesizes multi-dimensional student data into role-based interactive Chart.js analytics for department heads and faculty.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134A5F-4DDE-BC30-5F95-ED506290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441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75BDF-22CE-8045-D536-6416A09FD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3068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Natural Language Processing (NLP) Execution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Step 1: User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User submits plain English prompt (e.g. 'Show low attendance students').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Step 2: Intent Parsing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`</a:t>
            </a:r>
            <a:r>
              <a:rPr sz="1600" dirty="0" err="1"/>
              <a:t>NlpQueryParser</a:t>
            </a:r>
            <a:r>
              <a:rPr sz="1600" dirty="0"/>
              <a:t>` analyzes intent, key entities, and conditions.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7160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Step 3: SQL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96596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Converts parsed entities into valid MySQL `SELECT` query statement.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Step 4: RBAC Scoping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3484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sz="1600" dirty="0"/>
          </a:p>
          <a:p>
            <a:pPr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Applies `WHERE </a:t>
            </a:r>
            <a:r>
              <a:rPr sz="1600" dirty="0" err="1"/>
              <a:t>student_id</a:t>
            </a:r>
            <a:r>
              <a:rPr sz="1600" dirty="0"/>
              <a:t> = X` if query is executed by a student.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84048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343400" y="384048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Step 5: DB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3484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Queries MySQL database engine and formats output array.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84048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955280" y="3840480"/>
            <a:ext cx="336773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Step 6: Visualization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43484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Renders results into formatted data tables &amp; Chart.js charts.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0B85BA-7438-BED2-EBFD-0D2FE2097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5559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Database Design &amp; Entity Relationships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🗄️ </a:t>
            </a:r>
            <a:r>
              <a:rPr lang="en-US" dirty="0"/>
              <a:t>U</a:t>
            </a:r>
            <a:r>
              <a:rPr dirty="0"/>
              <a:t>sers &amp; </a:t>
            </a:r>
            <a:r>
              <a:rPr lang="en-US" dirty="0"/>
              <a:t>R</a:t>
            </a:r>
            <a:r>
              <a:rPr dirty="0"/>
              <a:t>oles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3093415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lang="en-US" sz="1600" dirty="0"/>
              <a:t>Primary auth table (`</a:t>
            </a:r>
            <a:r>
              <a:rPr lang="en-US" sz="1600" dirty="0" err="1"/>
              <a:t>role_id</a:t>
            </a:r>
            <a:r>
              <a:rPr lang="en-US" sz="1600" dirty="0"/>
              <a:t>` 1=Admin, 2=Faculty, 3=HOD, 4=Student). Stores email &amp; password hash.</a:t>
            </a:r>
            <a:endParaRPr sz="1600" dirty="0"/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🗄️ </a:t>
            </a:r>
            <a:r>
              <a:rPr lang="en-US" dirty="0"/>
              <a:t>S</a:t>
            </a:r>
            <a:r>
              <a:rPr dirty="0"/>
              <a:t>tudents </a:t>
            </a:r>
            <a:r>
              <a:rPr lang="en-US" dirty="0"/>
              <a:t>,</a:t>
            </a:r>
            <a:r>
              <a:rPr dirty="0"/>
              <a:t> </a:t>
            </a:r>
            <a:r>
              <a:rPr lang="en-US" dirty="0"/>
              <a:t>F</a:t>
            </a:r>
            <a:r>
              <a:rPr dirty="0"/>
              <a:t>aculty &amp; </a:t>
            </a:r>
            <a:r>
              <a:rPr lang="en-US" dirty="0"/>
              <a:t>HOD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Profile tables linked 1-to-1 with `users`. Contain employee IDs, batch, program, &amp; semester.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7160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🗄️ </a:t>
            </a:r>
            <a:r>
              <a:rPr lang="en-US" dirty="0"/>
              <a:t>C</a:t>
            </a:r>
            <a:r>
              <a:rPr dirty="0"/>
              <a:t>ourses &amp; </a:t>
            </a:r>
            <a:r>
              <a:rPr lang="en-US" dirty="0"/>
              <a:t>E</a:t>
            </a:r>
            <a:r>
              <a:rPr dirty="0"/>
              <a:t>nrollments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96596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Stores course codes (e.g., CS201), credits, faculty assignment, &amp; student course enrollments.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🗄️ </a:t>
            </a:r>
            <a:r>
              <a:rPr lang="en-US" dirty="0"/>
              <a:t>M</a:t>
            </a:r>
            <a:r>
              <a:rPr dirty="0"/>
              <a:t>arks &amp; </a:t>
            </a:r>
            <a:r>
              <a:rPr lang="en-US" dirty="0"/>
              <a:t>A</a:t>
            </a:r>
            <a:r>
              <a:rPr dirty="0"/>
              <a:t>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3484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Stores internal/external marks, grades, and date-wise attendance status (`present`/`absent`).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84048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343400" y="384048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🗄️ </a:t>
            </a:r>
            <a:r>
              <a:rPr lang="en-US" dirty="0" err="1"/>
              <a:t>A</a:t>
            </a:r>
            <a:r>
              <a:rPr dirty="0" err="1"/>
              <a:t>cademic_</a:t>
            </a:r>
            <a:r>
              <a:rPr lang="en-US" dirty="0" err="1"/>
              <a:t>R</a:t>
            </a:r>
            <a:r>
              <a:rPr dirty="0" err="1"/>
              <a:t>isks</a:t>
            </a:r>
            <a:r>
              <a:rPr dirty="0"/>
              <a:t> &amp; </a:t>
            </a:r>
            <a:r>
              <a:rPr lang="en-US" dirty="0"/>
              <a:t>A</a:t>
            </a:r>
            <a:r>
              <a:rPr dirty="0"/>
              <a:t>lerts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34840"/>
            <a:ext cx="3093415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Stores ML risk scores, risk levels (`Low`, `Medium`, `High`), recommendations, &amp; warning alerts.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840480"/>
            <a:ext cx="336773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955280" y="3840480"/>
            <a:ext cx="3367735" cy="54864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🗄️ </a:t>
            </a:r>
            <a:r>
              <a:rPr lang="en-US" dirty="0" err="1"/>
              <a:t>NL</a:t>
            </a:r>
            <a:r>
              <a:rPr dirty="0" err="1"/>
              <a:t>_</a:t>
            </a:r>
            <a:r>
              <a:rPr lang="en-US" dirty="0" err="1"/>
              <a:t>Q</a:t>
            </a:r>
            <a:r>
              <a:rPr dirty="0" err="1"/>
              <a:t>ueries</a:t>
            </a:r>
            <a:r>
              <a:rPr dirty="0"/>
              <a:t> &amp; </a:t>
            </a:r>
            <a:r>
              <a:rPr lang="en-US" dirty="0" err="1"/>
              <a:t>E</a:t>
            </a:r>
            <a:r>
              <a:rPr dirty="0" err="1"/>
              <a:t>mail_logs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8092440" y="4434840"/>
            <a:ext cx="3093415" cy="115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 sz="12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Logs natural language AI queries, generated SQL, execution time, and SMTP email logs.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60000"/>
                <a:lumOff val="40000"/>
              </a:schemeClr>
            </a:gs>
            <a:gs pos="58000">
              <a:srgbClr val="0070C0"/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5">
            <a:extLst>
              <a:ext uri="{FF2B5EF4-FFF2-40B4-BE49-F238E27FC236}">
                <a16:creationId xmlns:a16="http://schemas.microsoft.com/office/drawing/2014/main" id="{1192D873-5414-7A87-9570-064866635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520" y="0"/>
            <a:ext cx="9611360" cy="6858000"/>
          </a:xfrm>
          <a:prstGeom prst="rect">
            <a:avLst/>
          </a:prstGeom>
          <a:gradFill>
            <a:gsLst>
              <a:gs pos="0">
                <a:srgbClr val="B2CDFF"/>
              </a:gs>
              <a:gs pos="0">
                <a:schemeClr val="accent1">
                  <a:hueOff val="0"/>
                  <a:satOff val="0"/>
                  <a:lumOff val="0"/>
                  <a:alphaOff val="0"/>
                  <a:tint val="50000"/>
                  <a:satMod val="300000"/>
                </a:schemeClr>
              </a:gs>
              <a:gs pos="35000">
                <a:schemeClr val="accent1">
                  <a:hueOff val="0"/>
                  <a:satOff val="0"/>
                  <a:lumOff val="0"/>
                  <a:alphaOff val="0"/>
                  <a:tint val="37000"/>
                  <a:satMod val="300000"/>
                </a:schemeClr>
              </a:gs>
              <a:gs pos="100000">
                <a:schemeClr val="accent1">
                  <a:hueOff val="0"/>
                  <a:satOff val="0"/>
                  <a:lumOff val="0"/>
                  <a:alphaOff val="0"/>
                  <a:tint val="15000"/>
                  <a:satMod val="350000"/>
                </a:schemeClr>
              </a:gs>
            </a:gsLst>
            <a:lin ang="16200000" scaled="1"/>
          </a:gradFill>
        </p:spPr>
      </p:pic>
    </p:spTree>
    <p:extLst>
      <p:ext uri="{BB962C8B-B14F-4D97-AF65-F5344CB8AC3E}">
        <p14:creationId xmlns:p14="http://schemas.microsoft.com/office/powerpoint/2010/main" val="2193633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dirty="0"/>
              <a:t>Recommendation Engine Logic &amp;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50000"/>
              </a:lnSpc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rPr dirty="0"/>
              <a:t>1. Data Ingestion: </a:t>
            </a:r>
            <a:r>
              <a:rPr sz="1300" dirty="0">
                <a:solidFill>
                  <a:srgbClr val="262626"/>
                </a:solidFill>
                <a:latin typeface="Times New Roman"/>
              </a:rPr>
              <a:t>Ingests attendance percentage, internal test marks, and external exam scores.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728655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rPr dirty="0"/>
              <a:t>2. Rule Evaluation: </a:t>
            </a:r>
            <a:r>
              <a:rPr sz="1300" dirty="0">
                <a:solidFill>
                  <a:srgbClr val="262626"/>
                </a:solidFill>
                <a:latin typeface="Times New Roman"/>
              </a:rPr>
              <a:t>Evaluates against institutional criteria:
- Attendance &lt; 60% (Critical Warning)
- Total Marks &lt; 40 (Failing Risk)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10728655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t>3. Risk Classification: </a:t>
            </a:r>
            <a:r>
              <a:rPr sz="1300">
                <a:solidFill>
                  <a:srgbClr val="262626"/>
                </a:solidFill>
                <a:latin typeface="Times New Roman"/>
              </a:rPr>
              <a:t>Maps student status into Low Risk, Medium Risk, or High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51960"/>
            <a:ext cx="10728655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t>4. Advisory Generation: </a:t>
            </a:r>
            <a:r>
              <a:rPr sz="1300">
                <a:solidFill>
                  <a:srgbClr val="262626"/>
                </a:solidFill>
                <a:latin typeface="Times New Roman"/>
              </a:rPr>
              <a:t>Outputs actionable improvement steps:
- 'Schedule advisor session'
- 'Enroll in remedial tutoring'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12080"/>
            <a:ext cx="10728655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Times New Roman"/>
              </a:defRPr>
            </a:pPr>
            <a:r>
              <a:t>5. Portal Delivery: </a:t>
            </a:r>
            <a:r>
              <a:rPr sz="1300">
                <a:solidFill>
                  <a:srgbClr val="262626"/>
                </a:solidFill>
                <a:latin typeface="Times New Roman"/>
              </a:rPr>
              <a:t>Displays advisory on Student &amp; Faculty dashboards and dispatches email notifications.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1DF40A-E0FC-F107-B4DC-FA570022E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580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IN" sz="3500" dirty="0"/>
              <a:t>Challenges &amp; Future Enhancements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5081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50815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⚡ Challenges Overcome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876495" cy="3956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just">
              <a:lnSpc>
                <a:spcPct val="150000"/>
              </a:lnSpc>
              <a:spcAft>
                <a:spcPts val="8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1. Dynamic Risk Prediction: Integrating Python ML microservice seamlessly with PHP Laravel backend.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2. Natural Language Parsing: Implementing robust English-to-SQL intent mapping without external API dependencies.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3. RBAC Security Scoping: Ensuring strict data isolation for student queries.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4. Theme Consistency: Building bulletproof CSS overrides for instant Light/Dark mode switching.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5081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150815" cy="54864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🚀 Future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4876495" cy="367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sz="1600" dirty="0"/>
          </a:p>
          <a:p>
            <a:pPr algn="just">
              <a:lnSpc>
                <a:spcPct val="150000"/>
              </a:lnSpc>
              <a:spcAft>
                <a:spcPts val="8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1. LLM Integration: Upgrade NLP parser with fine-tuned </a:t>
            </a:r>
            <a:r>
              <a:rPr sz="1600" dirty="0" err="1"/>
              <a:t>LLaMA</a:t>
            </a:r>
            <a:r>
              <a:rPr sz="1600" dirty="0"/>
              <a:t> / DeepSeek models for conversational AI.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2. Native Mobile Application: Build Flutter / React Native mobile app for push notifications.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3. University ERP Integration: Connect directly with SAP / Banner institutional ERP databases.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  <a:defRPr sz="1300">
                <a:solidFill>
                  <a:srgbClr val="262626"/>
                </a:solidFill>
                <a:latin typeface="Times New Roman"/>
              </a:defRPr>
            </a:pPr>
            <a:r>
              <a:rPr sz="1600" dirty="0"/>
              <a:t>4. Explainable AI (XAI): Implement SHAP values to explain specific risk score drivers to faculty.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03520"/>
          </a:xfrm>
          <a:prstGeom prst="roundRect">
            <a:avLst/>
          </a:prstGeom>
          <a:solidFill>
            <a:srgbClr val="F2F4F8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4400" b="1">
                <a:solidFill>
                  <a:srgbClr val="1F4E79"/>
                </a:solidFill>
                <a:latin typeface="Times New Roman"/>
              </a:defRPr>
            </a:pPr>
            <a:r>
              <a:rPr dirty="0"/>
              <a:t>Thank You!</a:t>
            </a:r>
          </a:p>
          <a:p>
            <a:pPr algn="ctr">
              <a:spcBef>
                <a:spcPts val="1500"/>
              </a:spcBef>
              <a:defRPr sz="2000" b="1">
                <a:solidFill>
                  <a:srgbClr val="2F75B5"/>
                </a:solidFill>
                <a:latin typeface="Times New Roman"/>
              </a:defRPr>
            </a:pPr>
            <a:r>
              <a:rPr dirty="0" err="1"/>
              <a:t>EduInsight</a:t>
            </a:r>
            <a:r>
              <a:rPr dirty="0"/>
              <a:t>: A Predictive Analytics System for Student Performance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1778</Words>
  <Application>Microsoft Office PowerPoint</Application>
  <PresentationFormat>Widescreen</PresentationFormat>
  <Paragraphs>206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kowshik boggavarapu</cp:lastModifiedBy>
  <cp:revision>5</cp:revision>
  <dcterms:created xsi:type="dcterms:W3CDTF">2013-01-27T09:14:16Z</dcterms:created>
  <dcterms:modified xsi:type="dcterms:W3CDTF">2026-07-22T22:06:22Z</dcterms:modified>
  <cp:category/>
</cp:coreProperties>
</file>